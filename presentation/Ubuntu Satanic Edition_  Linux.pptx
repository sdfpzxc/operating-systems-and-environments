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IBM Plex Sans Light"/>
      <p:regular r:id="rId25"/>
      <p:bold r:id="rId26"/>
      <p:italic r:id="rId27"/>
      <p:boldItalic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IBM Plex Sans Medium"/>
      <p:regular r:id="rId33"/>
      <p:bold r:id="rId34"/>
      <p:italic r:id="rId35"/>
      <p:boldItalic r:id="rId36"/>
    </p:embeddedFont>
    <p:embeddedFont>
      <p:font typeface="Comforta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BMPlexSansLight-bold.fntdata"/><Relationship Id="rId25" Type="http://schemas.openxmlformats.org/officeDocument/2006/relationships/font" Target="fonts/IBMPlexSansLight-regular.fntdata"/><Relationship Id="rId28" Type="http://schemas.openxmlformats.org/officeDocument/2006/relationships/font" Target="fonts/IBMPlexSansLight-boldItalic.fntdata"/><Relationship Id="rId27" Type="http://schemas.openxmlformats.org/officeDocument/2006/relationships/font" Target="fonts/IBMPlexSans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5.xml"/><Relationship Id="rId33" Type="http://schemas.openxmlformats.org/officeDocument/2006/relationships/font" Target="fonts/IBMPlexSansMedium-regular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7.xml"/><Relationship Id="rId35" Type="http://schemas.openxmlformats.org/officeDocument/2006/relationships/font" Target="fonts/IBMPlexSansMedium-italic.fntdata"/><Relationship Id="rId12" Type="http://schemas.openxmlformats.org/officeDocument/2006/relationships/slide" Target="slides/slide6.xml"/><Relationship Id="rId34" Type="http://schemas.openxmlformats.org/officeDocument/2006/relationships/font" Target="fonts/IBMPlexSansMedium-bold.fntdata"/><Relationship Id="rId15" Type="http://schemas.openxmlformats.org/officeDocument/2006/relationships/slide" Target="slides/slide9.xml"/><Relationship Id="rId37" Type="http://schemas.openxmlformats.org/officeDocument/2006/relationships/font" Target="fonts/Comfortaa-regular.fntdata"/><Relationship Id="rId14" Type="http://schemas.openxmlformats.org/officeDocument/2006/relationships/slide" Target="slides/slide8.xml"/><Relationship Id="rId36" Type="http://schemas.openxmlformats.org/officeDocument/2006/relationships/font" Target="fonts/IBMPlexSans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Comforta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2a9a8f460cc588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h2a9a8f460cc588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h2a9a8f460cc5889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h2a9a8f460cc5889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2a9a8f460cc5889e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h2a9a8f460cc5889e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2a9a8f460cc5889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h2a9a8f460cc5889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2a9a8f460cc5889e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h2a9a8f460cc5889e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2a9a8f460cc5889e_1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2a9a8f460cc5889e_1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2a9a8f460cc5889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h2a9a8f460cc5889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2a9a8f460cc5889e_1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h2a9a8f460cc5889e_1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2a9a8f460cc5889e_1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h2a9a8f460cc5889e_1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h2a9a8f460cc5889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h2a9a8f460cc5889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2a9a8f460cc5889e_1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2a9a8f460cc5889e_1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h2a9a8f460cc5889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h2a9a8f460cc5889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2a9a8f460cc5889e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h2a9a8f460cc5889e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h2a9a8f460cc5889e_1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h2a9a8f460cc5889e_1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7" name="Google Shape;57;p14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8" name="Google Shape;58;p14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3" name="Google Shape;63;p14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" name="Google Shape;66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17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7" name="Google Shape;97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8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9" name="Google Shape;139;p18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9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46" name="Google Shape;146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0" name="Google Shape;150;p19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9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9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3" name="Google Shape;153;p19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8" name="Google Shape;158;p19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9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1" name="Google Shape;161;p19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9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4" name="Google Shape;164;p19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19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19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9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0" name="Google Shape;170;p19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2" name="Google Shape;172;p19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4" name="Google Shape;17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79" name="Google Shape;179;p20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7" name="Google Shape;187;p20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1" name="Google Shape;191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6" name="Google Shape;196;p21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7" name="Google Shape;197;p21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1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21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2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2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7" name="Google Shape;237;p24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8" name="Google Shape;238;p24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1" name="Google Shape;251;p2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4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4" name="Google Shape;264;p25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2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2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8" name="Google Shape;288;p2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8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1" name="Google Shape;301;p2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8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9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9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4" name="Google Shape;314;p2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30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30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30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0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0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1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344" name="Google Shape;344;p31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45" name="Google Shape;345;p3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9" name="Google Shape;349;p3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6" name="Google Shape;356;p32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57" name="Google Shape;357;p32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63" name="Google Shape;363;p3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68" name="Google Shape;368;p3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9" name="Google Shape;369;p3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3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72" name="Google Shape;372;p33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73" name="Google Shape;373;p33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76" name="Google Shape;376;p33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81" name="Google Shape;38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2" name="Google Shape;42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7" name="Google Shape;43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8" name="Google Shape;43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0" name="Google Shape;44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7" name="Google Shape;45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0" name="Google Shape;46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3" name="Google Shape;46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478950" y="689575"/>
            <a:ext cx="8092200" cy="273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Ubuntu </a:t>
            </a:r>
            <a:r>
              <a:rPr b="1" lang="en" sz="5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Satanic </a:t>
            </a:r>
            <a:r>
              <a:rPr lang="en" sz="53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Edition: </a:t>
            </a:r>
            <a:endParaRPr sz="53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Linux</a:t>
            </a:r>
            <a:endParaRPr sz="95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84" name="Google Shape;484;p55"/>
          <p:cNvSpPr txBox="1"/>
          <p:nvPr>
            <p:ph idx="1" type="subTitle"/>
          </p:nvPr>
        </p:nvSpPr>
        <p:spPr>
          <a:xfrm>
            <a:off x="759000" y="3337800"/>
            <a:ext cx="4872600" cy="974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  <a:latin typeface="Impact"/>
                <a:ea typeface="Impact"/>
                <a:cs typeface="Impact"/>
                <a:sym typeface="Impact"/>
              </a:rPr>
              <a:t>Ученик:</a:t>
            </a:r>
            <a:r>
              <a:rPr lang="en" sz="1700">
                <a:solidFill>
                  <a:schemeClr val="dk2"/>
                </a:solidFill>
              </a:rPr>
              <a:t> Геращенко Ксения Игоревна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(Я сама скачала и скрины все мои)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  <a:latin typeface="Impact"/>
                <a:ea typeface="Impact"/>
                <a:cs typeface="Impact"/>
                <a:sym typeface="Impact"/>
              </a:rPr>
              <a:t>Группа:</a:t>
            </a:r>
            <a:r>
              <a:rPr lang="en" sz="1700">
                <a:solidFill>
                  <a:schemeClr val="dk2"/>
                </a:solidFill>
              </a:rPr>
              <a:t> РПО2-9\3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Дисциплина:</a:t>
            </a:r>
            <a:r>
              <a:rPr lang="en" sz="1700">
                <a:solidFill>
                  <a:schemeClr val="accent2"/>
                </a:solidFill>
              </a:rPr>
              <a:t> </a:t>
            </a:r>
            <a:r>
              <a:rPr lang="en" sz="1700">
                <a:solidFill>
                  <a:schemeClr val="dk2"/>
                </a:solidFill>
              </a:rPr>
              <a:t>Операционные системы и среды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485" name="Google Shape;485;p55"/>
          <p:cNvPicPr preferRelativeResize="0"/>
          <p:nvPr/>
        </p:nvPicPr>
        <p:blipFill rotWithShape="1">
          <a:blip r:embed="rId3">
            <a:alphaModFix/>
          </a:blip>
          <a:srcRect b="37804" l="18386" r="19855" t="37145"/>
          <a:stretch/>
        </p:blipFill>
        <p:spPr>
          <a:xfrm>
            <a:off x="3323625" y="651525"/>
            <a:ext cx="2402843" cy="9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/>
          <p:nvPr>
            <p:ph type="title"/>
          </p:nvPr>
        </p:nvSpPr>
        <p:spPr>
          <a:xfrm>
            <a:off x="386000" y="291750"/>
            <a:ext cx="5169900" cy="13854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Что это на </a:t>
            </a:r>
            <a:endParaRPr sz="45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самом деле?</a:t>
            </a:r>
            <a:r>
              <a:rPr lang="en" sz="2500">
                <a:solidFill>
                  <a:schemeClr val="accent6"/>
                </a:solidFill>
              </a:rPr>
              <a:t> 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491" name="Google Shape;491;p56"/>
          <p:cNvSpPr txBox="1"/>
          <p:nvPr/>
        </p:nvSpPr>
        <p:spPr>
          <a:xfrm>
            <a:off x="386000" y="2131050"/>
            <a:ext cx="35136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Char char="●"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Это не отдельная ОС, а набор тем, обоев и звуков поверх обычной Ubuntu </a:t>
            </a:r>
            <a:endParaRPr sz="16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Char char="●"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Проект основан на Ubuntu 10.10 (Maverick Meerkat) с рабочим столом GNOME 2, который авторы считали «вершиной развития Ubuntu» </a:t>
            </a:r>
            <a:endParaRPr sz="16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2" name="Google Shape;492;p56"/>
          <p:cNvSpPr txBox="1"/>
          <p:nvPr/>
        </p:nvSpPr>
        <p:spPr>
          <a:xfrm>
            <a:off x="5069700" y="485700"/>
            <a:ext cx="34662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Char char="●"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Создатели подчеркивают, что проект не предназначен для реальных сатанистов </a:t>
            </a:r>
            <a:endParaRPr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93" name="Google Shape;49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130" y="2161638"/>
            <a:ext cx="4483674" cy="2522075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58"/>
          <p:cNvCxnSpPr/>
          <p:nvPr/>
        </p:nvCxnSpPr>
        <p:spPr>
          <a:xfrm>
            <a:off x="4572000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58"/>
          <p:cNvSpPr txBox="1"/>
          <p:nvPr/>
        </p:nvSpPr>
        <p:spPr>
          <a:xfrm>
            <a:off x="310775" y="228600"/>
            <a:ext cx="3678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История создания</a:t>
            </a:r>
            <a:r>
              <a:rPr lang="en" sz="31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sz="34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04" name="Google Shape;504;p58"/>
          <p:cNvPicPr preferRelativeResize="0"/>
          <p:nvPr/>
        </p:nvPicPr>
        <p:blipFill rotWithShape="1">
          <a:blip r:embed="rId3">
            <a:alphaModFix/>
          </a:blip>
          <a:srcRect b="39911" l="0" r="0" t="7978"/>
          <a:stretch/>
        </p:blipFill>
        <p:spPr>
          <a:xfrm>
            <a:off x="4660775" y="82725"/>
            <a:ext cx="4379551" cy="169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775" y="1540100"/>
            <a:ext cx="4379552" cy="350364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8"/>
          <p:cNvSpPr txBox="1"/>
          <p:nvPr/>
        </p:nvSpPr>
        <p:spPr>
          <a:xfrm>
            <a:off x="361500" y="905700"/>
            <a:ext cx="39321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Первая версия получила название «Evil Edgy» и вышла в декабре 2006 года на базе Ubuntu Edgy (6.10). Релиз был приурочен к рождественскому периоду, и автор пошутил на эту тему: </a:t>
            </a:r>
            <a:r>
              <a:rPr b="1" lang="en" sz="1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«В следующем году праздники начнутся раньше, потому что люди будут праздновать годовщину анти-Ubuntu 13 декабря… Санта будет носить </a:t>
            </a:r>
            <a:r>
              <a:rPr b="1" lang="en" sz="1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черное</a:t>
            </a:r>
            <a:r>
              <a:rPr b="1" lang="en" sz="1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, снег станет красным, и Beelzebuntu будет править вами всеми!»</a:t>
            </a:r>
            <a:r>
              <a:rPr b="1" lang="en" sz="17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1" sz="20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05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1"/>
          <p:cNvSpPr txBox="1"/>
          <p:nvPr/>
        </p:nvSpPr>
        <p:spPr>
          <a:xfrm>
            <a:off x="334350" y="457200"/>
            <a:ext cx="4284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Фишка с версиями </a:t>
            </a:r>
            <a:endParaRPr sz="28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(666.x)</a:t>
            </a:r>
            <a:r>
              <a:rPr lang="en" sz="27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sz="30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22" name="Google Shape;522;p61"/>
          <p:cNvSpPr txBox="1"/>
          <p:nvPr/>
        </p:nvSpPr>
        <p:spPr>
          <a:xfrm>
            <a:off x="229650" y="1585125"/>
            <a:ext cx="41529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BM Plex Sans"/>
              <a:buChar char="●"/>
            </a:pPr>
            <a:r>
              <a:rPr lang="en" sz="1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Нумерация пародировала стандартную схему Ubuntu (год.месяц).</a:t>
            </a:r>
            <a:endParaRPr sz="17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BM Plex Sans"/>
              <a:buChar char="●"/>
            </a:pPr>
            <a:r>
              <a:rPr lang="en" sz="1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Примеры версий:</a:t>
            </a:r>
            <a:endParaRPr sz="17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BM Plex Sans"/>
              <a:buChar char="○"/>
            </a:pPr>
            <a:r>
              <a:rPr lang="en" sz="1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666.8 — «Lucifer’s Legion» (Легион Люцифера)</a:t>
            </a:r>
            <a:endParaRPr sz="17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BM Plex Sans"/>
              <a:buChar char="○"/>
            </a:pPr>
            <a:r>
              <a:rPr lang="en" sz="1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666.9 — «Microsoft Massacre» (Махач Microsoft)</a:t>
            </a:r>
            <a:endParaRPr sz="17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IBM Plex Sans"/>
              <a:buChar char="○"/>
            </a:pPr>
            <a:r>
              <a:rPr lang="en" sz="17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666.10 — «Necrophiliac Necromancer» </a:t>
            </a:r>
            <a:endParaRPr sz="17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23" name="Google Shape;52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457200"/>
            <a:ext cx="4051050" cy="1324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950" y="1874037"/>
            <a:ext cx="4051052" cy="3038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95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50" y="152400"/>
            <a:ext cx="3629026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276" y="152400"/>
            <a:ext cx="362902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/>
          <p:nvPr/>
        </p:nvSpPr>
        <p:spPr>
          <a:xfrm>
            <a:off x="6144000" y="201325"/>
            <a:ext cx="30000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Live CD </a:t>
            </a:r>
            <a:endParaRPr sz="37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или </a:t>
            </a:r>
            <a:endParaRPr sz="37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«Undead CD»</a:t>
            </a:r>
            <a:r>
              <a:rPr lang="en" sz="36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sz="39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41" name="Google Shape;54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863" y="1923913"/>
            <a:ext cx="3770368" cy="2827776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2" name="Google Shape;542;p64"/>
          <p:cNvSpPr txBox="1"/>
          <p:nvPr/>
        </p:nvSpPr>
        <p:spPr>
          <a:xfrm>
            <a:off x="90300" y="117900"/>
            <a:ext cx="5946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Даже загрузочный диск получил тематическое название</a:t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Вместо Live CD использовался термин «Undead CD» (CD живых мертвецов) </a:t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Можно было запустить систему прямо с диска или установить на компьютер </a:t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BM Plex Sans"/>
              <a:buChar char="●"/>
            </a:pPr>
            <a:r>
              <a:rPr lang="en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Загрузочное меню с надписью «Undead CD»</a:t>
            </a:r>
            <a:endParaRPr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/>
        </p:nvSpPr>
        <p:spPr>
          <a:xfrm>
            <a:off x="436725" y="1433350"/>
            <a:ext cx="4109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Char char="●"/>
            </a:pP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Проект легко установить и так же легко откатить</a:t>
            </a:r>
            <a:endParaRPr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Char char="●"/>
            </a:pP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Добавить репозиторий </a:t>
            </a:r>
            <a:r>
              <a:rPr lang="en" sz="165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ubuntusatanic.org/hell</a:t>
            </a: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и установить пакеты через </a:t>
            </a:r>
            <a:r>
              <a:rPr lang="en" sz="165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apt-get</a:t>
            </a: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sz="2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Char char="●"/>
            </a:pPr>
            <a:r>
              <a:rPr lang="en" sz="1800" u="sng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Предупреждение:</a:t>
            </a: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1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«Не рекомендуется для слабонервных»</a:t>
            </a:r>
            <a:r>
              <a:rPr lang="en"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(шутка)</a:t>
            </a:r>
            <a:endParaRPr sz="18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3" name="Google Shape;553;p66"/>
          <p:cNvSpPr txBox="1"/>
          <p:nvPr/>
        </p:nvSpPr>
        <p:spPr>
          <a:xfrm>
            <a:off x="363725" y="555900"/>
            <a:ext cx="4386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Итоги и рекомендации</a:t>
            </a:r>
            <a:endParaRPr sz="3100">
              <a:solidFill>
                <a:schemeClr val="accent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554" name="Google Shape;55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375" y="735475"/>
            <a:ext cx="3946338" cy="386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/>
          <p:nvPr>
            <p:ph type="title"/>
          </p:nvPr>
        </p:nvSpPr>
        <p:spPr>
          <a:xfrm>
            <a:off x="544525" y="410728"/>
            <a:ext cx="4478400" cy="248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Спасибо за внимание!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Вопросы?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</a:rPr>
              <a:t>Если нет, тогда ……</a:t>
            </a:r>
            <a:endParaRPr sz="1800">
              <a:solidFill>
                <a:schemeClr val="accent6"/>
              </a:solidFill>
            </a:endParaRPr>
          </a:p>
        </p:txBody>
      </p:sp>
      <p:sp>
        <p:nvSpPr>
          <p:cNvPr id="560" name="Google Shape;560;p6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6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62" name="Google Shape;562;p6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